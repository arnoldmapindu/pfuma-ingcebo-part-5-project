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this once, plainly. This is the one-sentence version of the whole project. State up front that this is a software platform — no hardware component in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minutes) This is a real problem, not a hypothetical one — ground it in the Stock Theft Prevention Act clearance process and the disease-surveillance angle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minutes) Emphasise this is a purely software submission — no bench hardware, no procurement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(explain in 2 minutes) Point at the six roles on the left, the two client apps, the single Flask API behind both, and the clearance gate — this is the piece unique to the problem being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minutes) If pushed for detail: the same state pattern (pending → verified → released) is reused for the outbreak-report verify-then-broadcast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 minutes) Be honest and confident: the platform itself is built and demoable locally; the remaining work is the academic write-up, not the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1414"/>
                </a:solidFill>
                <a:latin typeface="Times New Roman"/>
              </a:rPr>
              <a:t>THE NATIONAL UNIVERSITY OF SCIENCE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Times New Roman"/>
              </a:rPr>
              <a:t>FACULTY OF INDUSTRIAL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1414"/>
                </a:solidFill>
                <a:latin typeface="Times New Roman"/>
              </a:rPr>
              <a:t>DEPARTMENT OF TELECOMMUNICATIONS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743200" cy="658368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1874519"/>
            <a:ext cx="8412480" cy="658368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56815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Project Title: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47672"/>
            <a:ext cx="81838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PFUMA/INGCEBO: A Verified Digital Livestock Registry and Marketplace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2560320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FULL NAME: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33472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Arnold T. Mapindu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26663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3026663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5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STUDENT NUMBER: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099815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[Registration Number]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93007"/>
            <a:ext cx="2743200" cy="658368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46120" y="3493007"/>
            <a:ext cx="8412480" cy="658368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75303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PROGRAMME: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566159"/>
            <a:ext cx="81838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BACHELOR OF ENGINEERING HONOURS DEGREE IN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TELECOMMUNICATIONS 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78807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46120" y="4178807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6110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COURSE CODE: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251959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TCL 5000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45151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46120" y="4645151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72744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SUPERVISOR: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718303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[Supervisor's Name and Title]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11495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46120" y="5111495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93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COHORT 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184647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BEng Final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Purpose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Turns livestock ownership and health history into a verifiable digital record, instead of paper, memory, or a stranger's word.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Connects the farmer, vet, supplier, buyer, police, and a bank or insurer into one shared system.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Gates the one transaction most open to abuse — an undocumented livestock sale — behind police clearance.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600200"/>
            <a:ext cx="2331720" cy="7772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FARMER / VET /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SUPPLIER / BUYER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96528" y="2377440"/>
            <a:ext cx="0" cy="457200"/>
          </a:xfrm>
          <a:prstGeom prst="line">
            <a:avLst/>
          </a:prstGeom>
          <a:ln w="17780">
            <a:solidFill>
              <a:srgbClr val="37A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818120" y="2880360"/>
            <a:ext cx="1965960" cy="68580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VERIFIED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96528" y="3566160"/>
            <a:ext cx="0" cy="457200"/>
          </a:xfrm>
          <a:prstGeom prst="line">
            <a:avLst/>
          </a:prstGeom>
          <a:ln w="17780">
            <a:solidFill>
              <a:srgbClr val="37A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4069080"/>
            <a:ext cx="2606040" cy="73152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POLICE-CLEARED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074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D7D7D"/>
                </a:solidFill>
                <a:latin typeface="Arial"/>
              </a:rPr>
              <a:t>One shared, checkable record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Livestock is frequently a rural family's largest store of wealth, and the least protected asset they own, in the Zimbabwean context.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Ownership, health history, vaccinations and past sales are tracked on paper, by memory, or not at all.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Disease outbreaks such as Theileriosis (“January Disease”) spread faster than paper record-keeping can respond to them.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Stock theft and ownership disputes have no fast, credible evidence trail, and livestock wealth cannot easily be used as loan collateral without a verifiable record.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91640"/>
            <a:ext cx="1920240" cy="685800"/>
          </a:xfrm>
          <a:prstGeom prst="round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PAPER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RECORDS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0" y="2029968"/>
            <a:ext cx="457200" cy="0"/>
          </a:xfrm>
          <a:prstGeom prst="line">
            <a:avLst/>
          </a:prstGeom>
          <a:ln w="127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058400" y="1691640"/>
            <a:ext cx="1737360" cy="68580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LOST / FORGED /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NEVER EXISTED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834640"/>
            <a:ext cx="2377440" cy="73152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 EVIDENCE TRAIL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FOR STOCK THEFT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931920"/>
            <a:ext cx="2377440" cy="86868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WEALTH THAT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CAN'T BE BORROWED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AGAINST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Main Elements of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What: livestock ownership and health records exist only on paper, or not at all.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Why: this leaves buyers, banks, and police with nothing credible to check before a sale, a loan, or an investigation.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How: build a role-based digital platform that records the history and gates resale behind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554480"/>
            <a:ext cx="2468880" cy="68580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UNVERIFIABLE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823960" y="2240280"/>
            <a:ext cx="0" cy="50292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60920" y="2788920"/>
            <a:ext cx="2926080" cy="77724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 TRUST FOR BUYERS,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BANKS, OR POLICE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23960" y="3566160"/>
            <a:ext cx="0" cy="50292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4114800"/>
            <a:ext cx="2926080" cy="7772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VERIFIED PLATFORM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+ CLEARANCE 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41414"/>
                </a:solidFill>
                <a:latin typeface="Arial"/>
              </a:rPr>
              <a:t>The aim of the project is to develop a verified digital livestock registry and marketplace platform that gates a sale behind police clearance and veterinary certification, giving farmers, buyers, and financial institutions a trustworthy record of livestock ownership and health.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749039"/>
            <a:ext cx="1737360" cy="64008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REGISTER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4069080"/>
            <a:ext cx="1280160" cy="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06240" y="3749039"/>
            <a:ext cx="1737360" cy="64008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4069080"/>
            <a:ext cx="1280160" cy="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23760" y="3749039"/>
            <a:ext cx="1920240" cy="64008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CLEAR TO SELL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4069080"/>
            <a:ext cx="1097280" cy="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241280" y="3749039"/>
            <a:ext cx="1463040" cy="640080"/>
          </a:xfrm>
          <a:prstGeom prst="roundRect">
            <a:avLst/>
          </a:prstGeom>
          <a:solidFill>
            <a:srgbClr val="91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BORROW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AGAINST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50">
                <a:solidFill>
                  <a:srgbClr val="141414"/>
                </a:solidFill>
                <a:latin typeface="Arial"/>
              </a:rPr>
              <a:t>1) To design and develop a role-based herd registry that records each animal's identity, health timeline, and ownership.</a:t>
            </a:r>
          </a:p>
          <a:p>
            <a:pPr algn="l">
              <a:spcAft>
                <a:spcPts val="900"/>
              </a:spcAft>
            </a:pPr>
            <a:r>
              <a:rPr sz="1750">
                <a:solidFill>
                  <a:srgbClr val="141414"/>
                </a:solidFill>
                <a:latin typeface="Arial"/>
              </a:rPr>
              <a:t>2) To develop a marketplace listing workflow that gates a livestock sale behind police clearance before it is shown to a buyer.</a:t>
            </a:r>
          </a:p>
          <a:p>
            <a:pPr algn="l">
              <a:spcAft>
                <a:spcPts val="900"/>
              </a:spcAft>
            </a:pPr>
            <a:r>
              <a:rPr sz="1750">
                <a:solidFill>
                  <a:srgbClr val="141414"/>
                </a:solidFill>
                <a:latin typeface="Arial"/>
              </a:rPr>
              <a:t>3) To develop a veterinary certification workflow that issues a publicly verifiable valuation certificate for an animal.</a:t>
            </a:r>
          </a:p>
          <a:p>
            <a:pPr algn="l">
              <a:spcAft>
                <a:spcPts val="900"/>
              </a:spcAft>
            </a:pPr>
            <a:r>
              <a:rPr sz="1750">
                <a:solidFill>
                  <a:srgbClr val="141414"/>
                </a:solidFill>
                <a:latin typeface="Arial"/>
              </a:rPr>
              <a:t>4) To create an institution ledger that allows a certificate to be looked up and flagged for loan-collateral purposes.</a:t>
            </a:r>
          </a:p>
          <a:p>
            <a:pPr algn="l">
              <a:spcAft>
                <a:spcPts val="900"/>
              </a:spcAft>
            </a:pPr>
            <a:r>
              <a:rPr sz="1750">
                <a:solidFill>
                  <a:srgbClr val="141414"/>
                </a:solidFill>
                <a:latin typeface="Arial"/>
              </a:rPr>
              <a:t>5) To develop an outbreak reporting and verification pipeline that broadcasts a confirmed disease alert to affected farmers.</a:t>
            </a:r>
          </a:p>
          <a:p>
            <a:pPr algn="l">
              <a:spcAft>
                <a:spcPts val="900"/>
              </a:spcAft>
            </a:pPr>
            <a:r>
              <a:rPr sz="1750">
                <a:solidFill>
                  <a:srgbClr val="141414"/>
                </a:solidFill>
                <a:latin typeface="Arial"/>
              </a:rPr>
              <a:t>6) To calculate an animal's estimated market value from weight, species and health history, fed by an automated market-rate scan.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Tasks and Resources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Design the shared database schema serving both the web and mobile clients.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Build the role-based authentication and access-control layer.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Build the marketplace listing and police sale-clearance workflow.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Build the veterinary certification and institution ledger flow.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Build the outbreak reporting, verification, and broadcast pipeline.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Build the web app, the mobile app, and the feed/trading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Arial"/>
              </a:rP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7830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Flask (Python) API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MySQL database (XAMPP, local)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React / Vite web app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Expo / React Native mobile app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A single development PC — no specialised hardware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System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1414"/>
                </a:solidFill>
                <a:latin typeface="Arial"/>
              </a:rPr>
              <a:t>Figure 3.1: Overall Platform System Block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FARMER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SUPPLIER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747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BUYER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POLICE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463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INSTITUTION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920240"/>
            <a:ext cx="1874519" cy="7772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WEB APP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(React / Vite)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520440"/>
            <a:ext cx="1874519" cy="7772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MOBILE APP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(Expo / RN)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743200"/>
            <a:ext cx="1920240" cy="82296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FLASK API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143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743200"/>
            <a:ext cx="1828800" cy="822960"/>
          </a:xfrm>
          <a:prstGeom prst="roundRect">
            <a:avLst/>
          </a:prstGeom>
          <a:solidFill>
            <a:srgbClr val="91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MYSQL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617720"/>
            <a:ext cx="2103120" cy="73152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SALE-CLEARANCE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40" y="1691640"/>
            <a:ext cx="868680" cy="612648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920240" y="2304288"/>
            <a:ext cx="868680" cy="7315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0240" y="2304288"/>
            <a:ext cx="868680" cy="75895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20240" y="3749039"/>
            <a:ext cx="868680" cy="155448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920240" y="3904487"/>
            <a:ext cx="868680" cy="530353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20240" y="3904487"/>
            <a:ext cx="868680" cy="1216153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63440" y="2304288"/>
            <a:ext cx="1097280" cy="713232"/>
          </a:xfrm>
          <a:prstGeom prst="line">
            <a:avLst/>
          </a:prstGeom>
          <a:ln w="17780">
            <a:solidFill>
              <a:srgbClr val="37A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63440" y="3291840"/>
            <a:ext cx="1097280" cy="612647"/>
          </a:xfrm>
          <a:prstGeom prst="line">
            <a:avLst/>
          </a:prstGeom>
          <a:ln w="17780">
            <a:solidFill>
              <a:srgbClr val="37A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154680"/>
            <a:ext cx="1051560" cy="0"/>
          </a:xfrm>
          <a:prstGeom prst="line">
            <a:avLst/>
          </a:prstGeom>
          <a:ln w="17780">
            <a:solidFill>
              <a:srgbClr val="E58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20840" y="3566160"/>
            <a:ext cx="0" cy="1051560"/>
          </a:xfrm>
          <a:prstGeom prst="line">
            <a:avLst/>
          </a:prstGeom>
          <a:ln w="17780">
            <a:solidFill>
              <a:srgbClr val="BE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41414"/>
                </a:solidFill>
                <a:latin typeface="Arial"/>
              </a:rPr>
              <a:t>Every role reaches the same shared record through the web or mobile client; the sale-clearance gate sits between a listing and a buyer.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A livestock listing tied to a registered animal starts hidden, in a pending-clearance state.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It is invisible to buyers until police verify ownership and brand papers against the herd registry.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A cross-district sale additionally requires a movement permit before it is released.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This mirrors the real Stock Theft Prevention Act clearance process, moved from a paper queue into a checkable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600200"/>
            <a:ext cx="2240280" cy="64008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LISTING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CREATED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81060" y="2240280"/>
            <a:ext cx="0" cy="25603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60920" y="2496312"/>
            <a:ext cx="2240280" cy="64008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PENDING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CLEARANCE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81060" y="3136391"/>
            <a:ext cx="0" cy="256033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3392424"/>
            <a:ext cx="2240280" cy="64008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POLICE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4288536"/>
            <a:ext cx="2148840" cy="5486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CLEARED — visible to buyers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4288536"/>
            <a:ext cx="2148840" cy="54864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REJECTED — stays hidden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001000" y="4032503"/>
            <a:ext cx="484632" cy="256033"/>
          </a:xfrm>
          <a:prstGeom prst="line">
            <a:avLst/>
          </a:prstGeom>
          <a:ln w="127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85632" y="4032503"/>
            <a:ext cx="1847088" cy="256033"/>
          </a:xfrm>
          <a:prstGeom prst="line">
            <a:avLst/>
          </a:prstGeom>
          <a:ln w="127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Schedule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51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Arial"/>
              </a:rPr>
              <a:t>Indicative 16-Week Execution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8848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74336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9824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776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9216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4704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48132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Guidelines review / proposal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74336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9824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25312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76288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1776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27264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78240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53728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9216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04704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80192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55680" y="150876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41648" y="1527048"/>
            <a:ext cx="914400" cy="251460"/>
          </a:xfrm>
          <a:prstGeom prst="round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1787651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Database schema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98848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74336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49824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25312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76288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51776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27264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02752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78240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53728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29216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04704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680192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55680" y="181508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17136" y="1833372"/>
            <a:ext cx="914400" cy="25146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209397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Auth &amp; role-based access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98848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74336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49824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25312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76288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51776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27264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02752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53728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729216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204704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80192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155680" y="212140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992624" y="2139696"/>
            <a:ext cx="914400" cy="25146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240030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Herd registry (web)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23360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98848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74336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449824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925312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00800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76288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51776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827264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02752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778240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53728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29216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04704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80192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155680" y="242773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468112" y="2446020"/>
            <a:ext cx="914400" cy="25146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" y="2706624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Marketplace + clearance gate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23360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98848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74336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49824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25312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400800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876288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351776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27264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302752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778240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53728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729216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204704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680192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155680" y="273405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943600" y="2752344"/>
            <a:ext cx="1389888" cy="25146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77240" y="301294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Vet certification workflow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023360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498848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974336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49824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25312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400800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876288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351776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827264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302752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778240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253728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729216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204704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680192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155680" y="304038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419088" y="3058668"/>
            <a:ext cx="914400" cy="25146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77240" y="3319272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Institution ledger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023360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98848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974336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449824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925312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400800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876288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351776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827264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302752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78240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253728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729216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204704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680192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155680" y="334670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6894576" y="3364992"/>
            <a:ext cx="438912" cy="25146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7240" y="362559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Outbreak reporting pipeline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023360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498848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974336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449824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25312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400800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876288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351776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827264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302752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778240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253728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729216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204704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680192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1155680" y="365302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7370064" y="3671315"/>
            <a:ext cx="914400" cy="25146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77240" y="393192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Mobile app (Expo/RN)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023360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498848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974336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449824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925312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400800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876288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51776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7264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302752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778240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253728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729216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204704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680192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1155680" y="395935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7370064" y="3977639"/>
            <a:ext cx="1389888" cy="25146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77240" y="4238244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Local (XAMPP) deployment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023360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498848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974336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49824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925312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400800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876288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51776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827264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302752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778240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253728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729216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204704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680192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1155680" y="4265676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8796528" y="4283964"/>
            <a:ext cx="438912" cy="25146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77240" y="454456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Integration testing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023360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498848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974336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449824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25312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400800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876288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351776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27264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302752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778240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253728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729216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204704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0680192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1155680" y="4572000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8796528" y="4590288"/>
            <a:ext cx="914400" cy="25146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77240" y="4850892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Chapters 1-3 write-up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023360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4498848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4974336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449824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925312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400800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876288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351776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827264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302752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778240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253728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729216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0204704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680192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155680" y="4878324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9272016" y="4896612"/>
            <a:ext cx="914400" cy="251460"/>
          </a:xfrm>
          <a:prstGeom prst="roundRect">
            <a:avLst/>
          </a:prstGeom>
          <a:solidFill>
            <a:srgbClr val="91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77240" y="515721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Chapters 4-5 write-up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023360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498848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974336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449824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925312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00800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876288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351776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827264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302752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778240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253728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729216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204704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680192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1155680" y="5184648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10222992" y="5202936"/>
            <a:ext cx="438912" cy="251460"/>
          </a:xfrm>
          <a:prstGeom prst="roundRect">
            <a:avLst/>
          </a:prstGeom>
          <a:solidFill>
            <a:srgbClr val="91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777240" y="546354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41414"/>
                </a:solidFill>
                <a:latin typeface="Arial"/>
              </a:rPr>
              <a:t>Final corrections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023360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4498848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4974336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5449824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5925312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6400800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6876288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7351776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7827264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302752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778240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253728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9216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204704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680192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1155680" y="5490972"/>
            <a:ext cx="475488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10698480" y="5509260"/>
            <a:ext cx="914400" cy="251460"/>
          </a:xfrm>
          <a:prstGeom prst="round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Work Carried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The backend API and database schema are built and running, covering all seven roles.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The web app and the mobile app are both built, close to feature parity.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The sale-clearance and outbreak-verification workflows are implemented end to end.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The platform was moved off external hosting and now runs entirely on the local development machine.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Next: complete the dissertation write-up against the school's guidelines.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Arial"/>
              </a:rPr>
              <a:t>Implementation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Backend API /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801368"/>
            <a:ext cx="1234440" cy="3200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Web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350008"/>
            <a:ext cx="1234440" cy="3200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Mobile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2898648"/>
            <a:ext cx="1234440" cy="3200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Clearance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3447288"/>
            <a:ext cx="1234440" cy="3200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Local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995928"/>
            <a:ext cx="1234440" cy="3200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Dissertation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4544568"/>
            <a:ext cx="1234440" cy="32004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IN PROGRESS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41414"/>
                </a:solidFill>
                <a:latin typeface="Arial Narrow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0" i="0">
                <a:solidFill>
                  <a:srgbClr val="141414"/>
                </a:solidFill>
                <a:latin typeface="Arial Narrow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D7D7D"/>
                </a:solidFill>
                <a:latin typeface="Arial"/>
              </a:rPr>
              <a:t>15 minutes total: 10 to present, 5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