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this once, plainly. This is the one-sentence version of the whole project. State up front that this is a software platform — no hardware component in this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 minutes) This is a real problem, not a hypothetical one — ground it in the Stock Theft Prevention Act clearance process and the disease-surveillance angle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 minutes)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 minutes) Emphasise this is a purely software submission — no bench hardware, no procurement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(explain in 2 minutes) Point at the six roles on the left, the single combined client box (web and mobile are feature-equivalent for a given role - a Farmer's dashboard differs from a Police officer's, but each is the same on web and mobile), the widened API box listing all nine modules (this is the fix for 'it only shows a fraction'), and the verification-gates box — sale clearance is only one of four (signup, sale, movement, outbreak); this pattern is the piece unique to the problem being solved.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 minutes) The right-hand panel now shows this explicitly - point at the purple box after the CLEARED/REJECTED split.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(3 minutes) * Core workflows = marketplace, sale clearance, the valuation certificate, institution ledger, outbreak reporting, the messenger, farmer cooperatives, the health-compliance lifecycle, feed/trading tools, and the natural-language assistant - say this if asked what the pill covers. Be honest and confident: the platform itself is built and demoable locally; the remaining work is the academic write-up, not the software. On Jinda specifically, if asked how smart it is: it correctly handles a recognised request, including one typed in Shona, and actually navigates the app - shown live in testing. It does not reason through an open-ended question (tested: asked why a vaccine was overdue, it fell back to a generic keyword match instead of answering). Say this plainly if asked - it is a fixed rule set, not a language model, by design (see Table 3.1), and that tradeoff is the honest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41414"/>
                </a:solidFill>
                <a:latin typeface="Times New Roman"/>
              </a:rPr>
              <a:t>THE NATIONAL UNIVERSITY OF SCIENCE AND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32688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41414"/>
                </a:solidFill>
                <a:latin typeface="Times New Roman"/>
              </a:rPr>
              <a:t>FACULTY OF INDUSTRIAL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280160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41414"/>
                </a:solidFill>
                <a:latin typeface="Times New Roman"/>
              </a:rPr>
              <a:t>DEPARTMENT OF TELECOMMUNICATIONS ENGINEERING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2743200" cy="658368"/>
          </a:xfrm>
          <a:prstGeom prst="roundRect">
            <a:avLst/>
          </a:prstGeom>
          <a:solidFill>
            <a:srgbClr val="529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46120" y="1874519"/>
            <a:ext cx="8412480" cy="658368"/>
          </a:xfrm>
          <a:prstGeom prst="roundRect">
            <a:avLst/>
          </a:prstGeom>
          <a:solidFill>
            <a:srgbClr val="E6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56815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Project Title: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947672"/>
            <a:ext cx="81838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  <a:latin typeface="Arial"/>
              </a:rPr>
              <a:t>Role-Based Digital Platform Connecting Cattle and Goat Farmers, Veterinarians, Suppliers, Buyers, Police and Financial Institutions Around a Verified Livestock Registry, Marketplace and Sale-Clearance System (PFUMA/INGCEBO)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60320"/>
            <a:ext cx="2743200" cy="438912"/>
          </a:xfrm>
          <a:prstGeom prst="roundRect">
            <a:avLst/>
          </a:prstGeom>
          <a:solidFill>
            <a:srgbClr val="529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46120" y="2560320"/>
            <a:ext cx="8412480" cy="438912"/>
          </a:xfrm>
          <a:prstGeom prst="roundRect">
            <a:avLst/>
          </a:prstGeom>
          <a:solidFill>
            <a:srgbClr val="E6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642615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FULL NAME: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633472"/>
            <a:ext cx="8183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  <a:latin typeface="Arial"/>
              </a:rPr>
              <a:t>Arnold T. Mapindu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026663"/>
            <a:ext cx="2743200" cy="438912"/>
          </a:xfrm>
          <a:prstGeom prst="roundRect">
            <a:avLst/>
          </a:prstGeom>
          <a:solidFill>
            <a:srgbClr val="529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46120" y="3026663"/>
            <a:ext cx="8412480" cy="438912"/>
          </a:xfrm>
          <a:prstGeom prst="roundRect">
            <a:avLst/>
          </a:prstGeom>
          <a:solidFill>
            <a:srgbClr val="E6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08959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STUDENT NUMBER: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099815"/>
            <a:ext cx="8183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  <a:latin typeface="Arial"/>
              </a:rPr>
              <a:t>[Registration Number]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493007"/>
            <a:ext cx="2743200" cy="658368"/>
          </a:xfrm>
          <a:prstGeom prst="roundRect">
            <a:avLst/>
          </a:prstGeom>
          <a:solidFill>
            <a:srgbClr val="529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46120" y="3493007"/>
            <a:ext cx="8412480" cy="658368"/>
          </a:xfrm>
          <a:prstGeom prst="roundRect">
            <a:avLst/>
          </a:prstGeom>
          <a:solidFill>
            <a:srgbClr val="E6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575303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PROGRAMME: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3566159"/>
            <a:ext cx="81838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  <a:latin typeface="Arial"/>
              </a:rPr>
              <a:t>BACHELOR OF ENGINEERING HONOURS DEGREE IN</a:t>
            </a:r>
          </a:p>
          <a:p>
            <a:pPr algn="l"/>
            <a:r>
              <a:rPr sz="1300" b="0" i="0">
                <a:solidFill>
                  <a:srgbClr val="141414"/>
                </a:solidFill>
                <a:latin typeface="Arial"/>
              </a:rPr>
              <a:t>TELECOMMUNICATIONS ENGINEERING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178807"/>
            <a:ext cx="2743200" cy="438912"/>
          </a:xfrm>
          <a:prstGeom prst="roundRect">
            <a:avLst/>
          </a:prstGeom>
          <a:solidFill>
            <a:srgbClr val="529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246120" y="4178807"/>
            <a:ext cx="8412480" cy="438912"/>
          </a:xfrm>
          <a:prstGeom prst="roundRect">
            <a:avLst/>
          </a:prstGeom>
          <a:solidFill>
            <a:srgbClr val="E6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261103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COURSE CODE: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4251959"/>
            <a:ext cx="8183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  <a:latin typeface="Arial"/>
              </a:rPr>
              <a:t>TCL 5000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645151"/>
            <a:ext cx="2743200" cy="438912"/>
          </a:xfrm>
          <a:prstGeom prst="roundRect">
            <a:avLst/>
          </a:prstGeom>
          <a:solidFill>
            <a:srgbClr val="529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246120" y="4645151"/>
            <a:ext cx="8412480" cy="438912"/>
          </a:xfrm>
          <a:prstGeom prst="roundRect">
            <a:avLst/>
          </a:prstGeom>
          <a:solidFill>
            <a:srgbClr val="E6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727447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SUPERVISOR: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4718303"/>
            <a:ext cx="8183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  <a:latin typeface="Arial"/>
              </a:rPr>
              <a:t>[Supervisor's Name and Title]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111495"/>
            <a:ext cx="2743200" cy="438912"/>
          </a:xfrm>
          <a:prstGeom prst="roundRect">
            <a:avLst/>
          </a:prstGeom>
          <a:solidFill>
            <a:srgbClr val="529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246120" y="5111495"/>
            <a:ext cx="8412480" cy="438912"/>
          </a:xfrm>
          <a:prstGeom prst="roundRect">
            <a:avLst/>
          </a:prstGeom>
          <a:solidFill>
            <a:srgbClr val="E6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193791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COHORT 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37560" y="5184647"/>
            <a:ext cx="8183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  <a:latin typeface="Arial"/>
              </a:rPr>
              <a:t>BEng Final Year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1153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41414"/>
                </a:solidFill>
                <a:latin typeface="Arial Narrow"/>
              </a:rPr>
              <a:t>Purpose of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6126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700">
                <a:solidFill>
                  <a:srgbClr val="141414"/>
                </a:solidFill>
                <a:latin typeface="Arial"/>
              </a:rPr>
              <a:t>• Turns livestock ownership and health history into a verifiable digital record, instead of paper, memory, or a stranger's word.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141414"/>
                </a:solidFill>
                <a:latin typeface="Arial"/>
              </a:rPr>
              <a:t>• Connects the farmer, vet, supplier, buyer, police, and a bank or insurer into one shared system.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141414"/>
                </a:solidFill>
                <a:latin typeface="Arial"/>
              </a:rPr>
              <a:t>• Gives every role its own marketplace, certification, messaging, cooperative and outbreak-alert workflow, gated by verification wherever it matters — not just a single generic app.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1600200"/>
            <a:ext cx="2331720" cy="777240"/>
          </a:xfrm>
          <a:prstGeom prst="roundRect">
            <a:avLst/>
          </a:prstGeom>
          <a:solidFill>
            <a:srgbClr val="529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FARMER / VET /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SUPPLIER / BUYER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796528" y="2377440"/>
            <a:ext cx="0" cy="457200"/>
          </a:xfrm>
          <a:prstGeom prst="line">
            <a:avLst/>
          </a:prstGeom>
          <a:ln w="17780">
            <a:solidFill>
              <a:srgbClr val="37AA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818120" y="2880360"/>
            <a:ext cx="1965960" cy="685800"/>
          </a:xfrm>
          <a:prstGeom prst="roundRect">
            <a:avLst/>
          </a:prstGeom>
          <a:solidFill>
            <a:srgbClr val="2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VERIFIED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RECORD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796528" y="3566160"/>
            <a:ext cx="0" cy="457200"/>
          </a:xfrm>
          <a:prstGeom prst="line">
            <a:avLst/>
          </a:prstGeom>
          <a:ln w="17780">
            <a:solidFill>
              <a:srgbClr val="37AA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360920" y="4069080"/>
            <a:ext cx="2880360" cy="731520"/>
          </a:xfrm>
          <a:prstGeom prst="roundRect">
            <a:avLst/>
          </a:prstGeom>
          <a:solidFill>
            <a:srgbClr val="E58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MARKETPLACE, CLEARANCE,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CERTIFICATION &amp; MORE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50749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1">
                <a:solidFill>
                  <a:srgbClr val="7D7D7D"/>
                </a:solidFill>
                <a:latin typeface="Arial"/>
              </a:rPr>
              <a:t>One shared, checkable record behind every function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1153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41414"/>
                </a:solidFill>
                <a:latin typeface="Arial Narrow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6126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700">
                <a:solidFill>
                  <a:srgbClr val="141414"/>
                </a:solidFill>
                <a:latin typeface="Arial"/>
              </a:rPr>
              <a:t>• Livestock is frequently a rural family's largest store of wealth, and the least protected asset they own, in the Zimbabwean context.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141414"/>
                </a:solidFill>
                <a:latin typeface="Arial"/>
              </a:rPr>
              <a:t>• Ownership, health history, vaccinations and past sales are tracked on paper, by memory, or not at all.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141414"/>
                </a:solidFill>
                <a:latin typeface="Arial"/>
              </a:rPr>
              <a:t>• Disease outbreaks such as Theileriosis (“January Disease”) spread faster than paper record-keeping can respond to them.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141414"/>
                </a:solidFill>
                <a:latin typeface="Arial"/>
              </a:rPr>
              <a:t>• Stock theft and ownership disputes have no fast, credible evidence trail, and livestock wealth cannot easily be used as loan collateral without a verifiable record.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141414"/>
                </a:solidFill>
                <a:latin typeface="Arial"/>
              </a:rPr>
              <a:t>• A farmer selling an animal has no efficient way to find a certified buyer or a credible independent valuation, so a sale is commonly word of mouth, at whatever price a wandering buyer offers.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691640"/>
            <a:ext cx="1920240" cy="685800"/>
          </a:xfrm>
          <a:prstGeom prst="roundRect">
            <a:avLst/>
          </a:prstGeom>
          <a:solidFill>
            <a:srgbClr val="7D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PAPER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RECORDS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601200" y="2029968"/>
            <a:ext cx="457200" cy="0"/>
          </a:xfrm>
          <a:prstGeom prst="line">
            <a:avLst/>
          </a:prstGeom>
          <a:ln w="1270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0058400" y="1691640"/>
            <a:ext cx="1737360" cy="685800"/>
          </a:xfrm>
          <a:prstGeom prst="round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LOST / FORGED /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NEVER EXISTED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2834640"/>
            <a:ext cx="2377440" cy="731520"/>
          </a:xfrm>
          <a:prstGeom prst="round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NO EVIDENCE TRAIL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FOR STOCK THEFT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3931920"/>
            <a:ext cx="2377440" cy="868680"/>
          </a:xfrm>
          <a:prstGeom prst="roundRect">
            <a:avLst/>
          </a:prstGeom>
          <a:solidFill>
            <a:srgbClr val="E58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WEALTH THAT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CAN'T BE BORROWED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AGAINST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4983480"/>
            <a:ext cx="2377440" cy="777240"/>
          </a:xfrm>
          <a:prstGeom prst="roundRect">
            <a:avLst/>
          </a:prstGeom>
          <a:solidFill>
            <a:srgbClr val="7D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NO CERTIFIED BUYER,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NO CREDIBLE VALUATION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1153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41414"/>
                </a:solidFill>
                <a:latin typeface="Arial Narrow"/>
              </a:rPr>
              <a:t>Main Elements of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6126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700">
                <a:solidFill>
                  <a:srgbClr val="141414"/>
                </a:solidFill>
                <a:latin typeface="Arial"/>
              </a:rPr>
              <a:t>• What: livestock ownership and health records exist only on paper, or not at all.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141414"/>
                </a:solidFill>
                <a:latin typeface="Arial"/>
              </a:rPr>
              <a:t>• Why: this leaves buyers, banks, and police with nothing credible to check before a sale, a loan, or an investigation.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141414"/>
                </a:solidFill>
                <a:latin typeface="Arial"/>
              </a:rPr>
              <a:t>• How: build a role-based digital platform that records the history and gates resale behind verification.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554480"/>
            <a:ext cx="2468880" cy="685800"/>
          </a:xfrm>
          <a:prstGeom prst="roundRect">
            <a:avLst/>
          </a:prstGeom>
          <a:solidFill>
            <a:srgbClr val="E58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UNVERIFIABLE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RECORD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823960" y="2240280"/>
            <a:ext cx="0" cy="502920"/>
          </a:xfrm>
          <a:prstGeom prst="line">
            <a:avLst/>
          </a:prstGeom>
          <a:ln w="1778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360920" y="2788920"/>
            <a:ext cx="2926080" cy="777240"/>
          </a:xfrm>
          <a:prstGeom prst="round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NO TRUST FOR BUYERS,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BANKS, OR POLICE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823960" y="3566160"/>
            <a:ext cx="0" cy="502920"/>
          </a:xfrm>
          <a:prstGeom prst="line">
            <a:avLst/>
          </a:prstGeom>
          <a:ln w="1778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360920" y="4114800"/>
            <a:ext cx="2926080" cy="868680"/>
          </a:xfrm>
          <a:prstGeom prst="roundRect">
            <a:avLst/>
          </a:prstGeom>
          <a:solidFill>
            <a:srgbClr val="2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ROLE-BASED PLATFORM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registry, marketplace,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clearance &amp; more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1153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41414"/>
                </a:solidFill>
                <a:latin typeface="Arial Narrow"/>
              </a:rPr>
              <a:t>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141414"/>
                </a:solidFill>
                <a:latin typeface="Arial"/>
              </a:rPr>
              <a:t>The aim of the project is to develop a role-based digital platform connecting farmers, veterinary practitioners, suppliers, buyers, police officers and financial institutions around a single verified livestock record, giving every role a shared registry, marketplace, messaging and clearance system in place of separate paper trails.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3749039"/>
            <a:ext cx="1737360" cy="640080"/>
          </a:xfrm>
          <a:prstGeom prst="roundRect">
            <a:avLst/>
          </a:prstGeom>
          <a:solidFill>
            <a:srgbClr val="529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REGISTER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26080" y="4069080"/>
            <a:ext cx="1280160" cy="0"/>
          </a:xfrm>
          <a:prstGeom prst="line">
            <a:avLst/>
          </a:prstGeom>
          <a:ln w="1778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206240" y="3749039"/>
            <a:ext cx="1737360" cy="640080"/>
          </a:xfrm>
          <a:prstGeom prst="roundRect">
            <a:avLst/>
          </a:prstGeom>
          <a:solidFill>
            <a:srgbClr val="E58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VERIFY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0" y="4069080"/>
            <a:ext cx="1280160" cy="0"/>
          </a:xfrm>
          <a:prstGeom prst="line">
            <a:avLst/>
          </a:prstGeom>
          <a:ln w="1778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223760" y="3749039"/>
            <a:ext cx="1920240" cy="640080"/>
          </a:xfrm>
          <a:prstGeom prst="roundRect">
            <a:avLst/>
          </a:prstGeom>
          <a:solidFill>
            <a:srgbClr val="2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CLEAR TO SELL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0" y="4069080"/>
            <a:ext cx="1097280" cy="0"/>
          </a:xfrm>
          <a:prstGeom prst="line">
            <a:avLst/>
          </a:prstGeom>
          <a:ln w="1778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0241280" y="3749039"/>
            <a:ext cx="1463040" cy="640080"/>
          </a:xfrm>
          <a:prstGeom prst="roundRect">
            <a:avLst/>
          </a:prstGeom>
          <a:solidFill>
            <a:srgbClr val="914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BORROW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AGAINST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1153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41414"/>
                </a:solidFill>
                <a:latin typeface="Arial Narrow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55778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300">
                <a:solidFill>
                  <a:srgbClr val="141414"/>
                </a:solidFill>
                <a:latin typeface="Arial"/>
              </a:rPr>
              <a:t>1) To design a database schema and role-based access control serving seven platform roles.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141414"/>
                </a:solidFill>
                <a:latin typeface="Arial"/>
              </a:rPr>
              <a:t>2) To develop a herd registry recording each animal's identity, health timeline, and ownership.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141414"/>
                </a:solidFill>
                <a:latin typeface="Arial"/>
              </a:rPr>
              <a:t>3) To develop a health-and-compliance lifecycle with vaccination, weaning and gestation countdowns.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141414"/>
                </a:solidFill>
                <a:latin typeface="Arial"/>
              </a:rPr>
              <a:t>4) To develop a marketplace workflow that gates a sale behind police clearance.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141414"/>
                </a:solidFill>
                <a:latin typeface="Arial"/>
              </a:rPr>
              <a:t>5) To develop a valuation-certificate workflow, informed by logged vet health events, issuing a verifiable certificate.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141414"/>
                </a:solidFill>
                <a:latin typeface="Arial"/>
              </a:rPr>
              <a:t>6) To create an institution ledger for certificate lookup and loan-collateral flagging.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141414"/>
                </a:solidFill>
                <a:latin typeface="Arial"/>
              </a:rPr>
              <a:t>7) To develop an outbreak reporting and verification pipeline that broadcasts confirmed alerts.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141414"/>
                </a:solidFill>
                <a:latin typeface="Arial"/>
              </a:rPr>
              <a:t>8) To develop a farmer cooperative function sharing a dip-tank schedule and group vet requests.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868680"/>
            <a:ext cx="55778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300">
                <a:solidFill>
                  <a:srgbClr val="141414"/>
                </a:solidFill>
                <a:latin typeface="Arial"/>
              </a:rPr>
              <a:t>9) To develop a farmer feed-budget function and a supplier/buyer trading-journal function.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141414"/>
                </a:solidFill>
                <a:latin typeface="Arial"/>
              </a:rPr>
              <a:t>10) To calculate an animal's estimated market value from an automated market-rate scan.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141414"/>
                </a:solidFill>
                <a:latin typeface="Arial"/>
              </a:rPr>
              <a:t>11) To develop a web-based application giving every role browser access.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141414"/>
                </a:solidFill>
                <a:latin typeface="Arial"/>
              </a:rPr>
              <a:t>12) To develop a native mobile application giving every role mobile access.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141414"/>
                </a:solidFill>
                <a:latin typeface="Arial"/>
              </a:rPr>
              <a:t>13) To develop a secure, end-to-end messenger linking every role.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141414"/>
                </a:solidFill>
                <a:latin typeface="Arial"/>
              </a:rPr>
              <a:t>14) To develop a role-aware natural-language assistant answering health and compliance questions.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141414"/>
                </a:solidFill>
                <a:latin typeface="Arial"/>
              </a:rPr>
              <a:t>15) To determine, by deploying the platform locally, whether these workflows operate correctly end to end.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1153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41414"/>
                </a:solidFill>
                <a:latin typeface="Arial Narrow"/>
              </a:rPr>
              <a:t>Tasks and Resources Required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6035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300">
                <a:solidFill>
                  <a:srgbClr val="141414"/>
                </a:solidFill>
                <a:latin typeface="Arial"/>
              </a:rPr>
              <a:t>• Design the shared database schema serving both the web and mobile clients.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141414"/>
                </a:solidFill>
                <a:latin typeface="Arial"/>
              </a:rPr>
              <a:t>• Build the role-based authentication and access-control layer.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141414"/>
                </a:solidFill>
                <a:latin typeface="Arial"/>
              </a:rPr>
              <a:t>• Build the health-and-compliance lifecycle and its countdowns.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141414"/>
                </a:solidFill>
                <a:latin typeface="Arial"/>
              </a:rPr>
              <a:t>• Build the marketplace listing and police sale-clearance workflow.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141414"/>
                </a:solidFill>
                <a:latin typeface="Arial"/>
              </a:rPr>
              <a:t>• Build the valuation-certificate and institution ledger flow.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141414"/>
                </a:solidFill>
                <a:latin typeface="Arial"/>
              </a:rPr>
              <a:t>• Build the outbreak reporting, verification, and broadcast pipeline.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141414"/>
                </a:solidFill>
                <a:latin typeface="Arial"/>
              </a:rPr>
              <a:t>• Build the farmer cooperative and secure cross-role messenger functions.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141414"/>
                </a:solidFill>
                <a:latin typeface="Arial"/>
              </a:rPr>
              <a:t>• Build the web app, the mobile app, the feed/trading tools, and the natural-language assistant.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280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1414"/>
                </a:solidFill>
                <a:latin typeface="Arial"/>
              </a:rPr>
              <a:t>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78308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400">
                <a:solidFill>
                  <a:srgbClr val="141414"/>
                </a:solidFill>
                <a:latin typeface="Arial"/>
              </a:rPr>
              <a:t>• Flask (Python) API</a:t>
            </a:r>
          </a:p>
          <a:p>
            <a:pPr algn="l">
              <a:spcAft>
                <a:spcPts val="900"/>
              </a:spcAft>
            </a:pPr>
            <a:r>
              <a:rPr sz="1400">
                <a:solidFill>
                  <a:srgbClr val="141414"/>
                </a:solidFill>
                <a:latin typeface="Arial"/>
              </a:rPr>
              <a:t>• MySQL database (XAMPP, local)</a:t>
            </a:r>
          </a:p>
          <a:p>
            <a:pPr algn="l">
              <a:spcAft>
                <a:spcPts val="900"/>
              </a:spcAft>
            </a:pPr>
            <a:r>
              <a:rPr sz="1400">
                <a:solidFill>
                  <a:srgbClr val="141414"/>
                </a:solidFill>
                <a:latin typeface="Arial"/>
              </a:rPr>
              <a:t>• React / Vite web app</a:t>
            </a:r>
          </a:p>
          <a:p>
            <a:pPr algn="l">
              <a:spcAft>
                <a:spcPts val="900"/>
              </a:spcAft>
            </a:pPr>
            <a:r>
              <a:rPr sz="1400">
                <a:solidFill>
                  <a:srgbClr val="141414"/>
                </a:solidFill>
                <a:latin typeface="Arial"/>
              </a:rPr>
              <a:t>• Expo / React Native mobile app</a:t>
            </a:r>
          </a:p>
          <a:p>
            <a:pPr algn="l">
              <a:spcAft>
                <a:spcPts val="900"/>
              </a:spcAft>
            </a:pPr>
            <a:r>
              <a:rPr sz="1400">
                <a:solidFill>
                  <a:srgbClr val="141414"/>
                </a:solidFill>
                <a:latin typeface="Arial"/>
              </a:rPr>
              <a:t>• A single development PC — no specialised hardware required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1153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41414"/>
                </a:solidFill>
                <a:latin typeface="Arial Narrow"/>
              </a:rPr>
              <a:t>System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14300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41414"/>
                </a:solidFill>
                <a:latin typeface="Arial"/>
              </a:rPr>
              <a:t>Figure 3.1: Overall Platform System Block Diagram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1417320" cy="548640"/>
          </a:xfrm>
          <a:prstGeom prst="roundRect">
            <a:avLst/>
          </a:prstGeom>
          <a:solidFill>
            <a:srgbClr val="529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FARMER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03120"/>
            <a:ext cx="1417320" cy="548640"/>
          </a:xfrm>
          <a:prstGeom prst="roundRect">
            <a:avLst/>
          </a:prstGeom>
          <a:solidFill>
            <a:srgbClr val="529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VET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788920"/>
            <a:ext cx="1417320" cy="548640"/>
          </a:xfrm>
          <a:prstGeom prst="roundRect">
            <a:avLst/>
          </a:prstGeom>
          <a:solidFill>
            <a:srgbClr val="529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SUPPLIER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474720"/>
            <a:ext cx="1417320" cy="548640"/>
          </a:xfrm>
          <a:prstGeom prst="roundRect">
            <a:avLst/>
          </a:prstGeom>
          <a:solidFill>
            <a:srgbClr val="529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BUYER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160520"/>
            <a:ext cx="1417320" cy="548640"/>
          </a:xfrm>
          <a:prstGeom prst="roundRect">
            <a:avLst/>
          </a:prstGeom>
          <a:solidFill>
            <a:srgbClr val="529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POLICE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846320"/>
            <a:ext cx="1417320" cy="548640"/>
          </a:xfrm>
          <a:prstGeom prst="roundRect">
            <a:avLst/>
          </a:prstGeom>
          <a:solidFill>
            <a:srgbClr val="529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INSTITUTION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1720" y="2423160"/>
            <a:ext cx="2148840" cy="1417320"/>
          </a:xfrm>
          <a:prstGeom prst="roundRect">
            <a:avLst/>
          </a:prstGeom>
          <a:solidFill>
            <a:srgbClr val="2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WEB APP  &amp;  MOBILE APP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(React/Vite + Expo/RN)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each role's own tailored dashboard,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available on either client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1737360"/>
            <a:ext cx="4206240" cy="2103120"/>
          </a:xfrm>
          <a:prstGeom prst="roundRect">
            <a:avLst/>
          </a:prstGeom>
          <a:solidFill>
            <a:srgbClr val="E58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FLASK API  —  143 ROUTES</a:t>
            </a:r>
          </a:p>
          <a:p>
            <a:pPr algn="ctr"/>
          </a:p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Registry &amp; Compliance   |   Marketplace &amp; Clearance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Certification &amp; Institution Ledger   |   Outbreak Pipeline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Cooperatives   |   Feed &amp; Trading Tools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Messenger   |   Jinda AI Assistant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64040" y="2423160"/>
            <a:ext cx="1691640" cy="822960"/>
          </a:xfrm>
          <a:prstGeom prst="roundRect">
            <a:avLst/>
          </a:prstGeom>
          <a:solidFill>
            <a:srgbClr val="914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MYSQL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DATABASE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4343400"/>
            <a:ext cx="3840480" cy="868680"/>
          </a:xfrm>
          <a:prstGeom prst="round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VERIFICATION GATES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signup  ·  sale clearance  ·  movement permits  ·  outbreak reports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20240" y="1691640"/>
            <a:ext cx="411480" cy="1435608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920240" y="2377440"/>
            <a:ext cx="411480" cy="749808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920240" y="3063240"/>
            <a:ext cx="411480" cy="64008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20240" y="3127248"/>
            <a:ext cx="411480" cy="621791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20240" y="3127248"/>
            <a:ext cx="411480" cy="1307592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920240" y="3127248"/>
            <a:ext cx="411480" cy="1993392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4480560" y="2788920"/>
            <a:ext cx="411480" cy="338328"/>
          </a:xfrm>
          <a:prstGeom prst="line">
            <a:avLst/>
          </a:prstGeom>
          <a:ln w="17780">
            <a:solidFill>
              <a:srgbClr val="37AA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098280" y="2788920"/>
            <a:ext cx="365760" cy="45720"/>
          </a:xfrm>
          <a:prstGeom prst="line">
            <a:avLst/>
          </a:prstGeom>
          <a:ln w="17780">
            <a:solidFill>
              <a:srgbClr val="E582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995160" y="3840480"/>
            <a:ext cx="0" cy="502920"/>
          </a:xfrm>
          <a:prstGeom prst="line">
            <a:avLst/>
          </a:prstGeom>
          <a:ln w="17780">
            <a:solidFill>
              <a:srgbClr val="BE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41414"/>
                </a:solidFill>
                <a:latin typeface="Arial"/>
              </a:rPr>
              <a:t>Every role reaches its own tailored dashboard through either client; one Flask API holds nine distinct modules over one shared record, several of them gated behind their own verification step.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1153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41414"/>
                </a:solidFill>
                <a:latin typeface="Arial Narrow"/>
              </a:rPr>
              <a:t>Principle: One Pattern, Four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6126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700">
                <a:solidFill>
                  <a:srgbClr val="141414"/>
                </a:solidFill>
                <a:latin typeface="Arial"/>
              </a:rPr>
              <a:t>• A livestock listing tied to a registered animal starts hidden, in a pending-clearance state.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141414"/>
                </a:solidFill>
                <a:latin typeface="Arial"/>
              </a:rPr>
              <a:t>• It is invisible to buyers until police verify ownership and brand papers against the herd registry.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141414"/>
                </a:solidFill>
                <a:latin typeface="Arial"/>
              </a:rPr>
              <a:t>• A cross-district sale additionally requires a movement permit before it is released.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141414"/>
                </a:solidFill>
                <a:latin typeface="Arial"/>
              </a:rPr>
              <a:t>• The same pending → verified → released pattern also gates a new account at signup and an outbreak report before it is broadcast — one mechanism, reused four times, not a special case built just for sales.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141414"/>
                </a:solidFill>
                <a:latin typeface="Arial"/>
              </a:rPr>
              <a:t>• This mirrors the real Stock Theft Prevention Act clearance process, moved from a paper queue into a checkable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1600200"/>
            <a:ext cx="2240280" cy="640080"/>
          </a:xfrm>
          <a:prstGeom prst="roundRect">
            <a:avLst/>
          </a:prstGeom>
          <a:solidFill>
            <a:srgbClr val="529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LISTING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CREATED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81060" y="2240280"/>
            <a:ext cx="0" cy="256032"/>
          </a:xfrm>
          <a:prstGeom prst="line">
            <a:avLst/>
          </a:prstGeom>
          <a:ln w="1524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360920" y="2496312"/>
            <a:ext cx="2240280" cy="640080"/>
          </a:xfrm>
          <a:prstGeom prst="roundRect">
            <a:avLst/>
          </a:prstGeom>
          <a:solidFill>
            <a:srgbClr val="E58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PENDING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CLEARANCE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81060" y="3136391"/>
            <a:ext cx="0" cy="256033"/>
          </a:xfrm>
          <a:prstGeom prst="line">
            <a:avLst/>
          </a:prstGeom>
          <a:ln w="1524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360920" y="3392424"/>
            <a:ext cx="2240280" cy="640080"/>
          </a:xfrm>
          <a:prstGeom prst="roundRect">
            <a:avLst/>
          </a:prstGeom>
          <a:solidFill>
            <a:srgbClr val="E58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POLICE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4288536"/>
            <a:ext cx="2148840" cy="548640"/>
          </a:xfrm>
          <a:prstGeom prst="roundRect">
            <a:avLst/>
          </a:prstGeom>
          <a:solidFill>
            <a:srgbClr val="2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CLEARED — visible to buyers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81160" y="4288536"/>
            <a:ext cx="2148840" cy="548640"/>
          </a:xfrm>
          <a:prstGeom prst="round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REJECTED — stays hidden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8001000" y="4032503"/>
            <a:ext cx="484632" cy="256033"/>
          </a:xfrm>
          <a:prstGeom prst="line">
            <a:avLst/>
          </a:prstGeom>
          <a:ln w="1270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485632" y="4032503"/>
            <a:ext cx="1847088" cy="256033"/>
          </a:xfrm>
          <a:prstGeom prst="line">
            <a:avLst/>
          </a:prstGeom>
          <a:ln w="1270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949440" y="5111495"/>
            <a:ext cx="4480560" cy="685800"/>
          </a:xfrm>
          <a:prstGeom prst="roundRect">
            <a:avLst/>
          </a:prstGeom>
          <a:solidFill>
            <a:srgbClr val="914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SAME PATTERN ALSO GATES: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new-account signup   |   movement permits   |   outbreak-report broadcast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1153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41414"/>
                </a:solidFill>
                <a:latin typeface="Arial Narrow"/>
              </a:rPr>
              <a:t>Schedule of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0515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41414"/>
                </a:solidFill>
                <a:latin typeface="Arial"/>
              </a:rPr>
              <a:t>Indicative 16-Week Execution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1261872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D7D7D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98848" y="1261872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D7D7D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74336" y="1261872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D7D7D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49824" y="1261872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D7D7D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5312" y="1261872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D7D7D"/>
                </a:solidFill>
                <a:latin typeface="Arial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261872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D7D7D"/>
                </a:solidFill>
                <a:latin typeface="Arial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76288" y="1261872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D7D7D"/>
                </a:solidFill>
                <a:latin typeface="Arial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51776" y="1261872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D7D7D"/>
                </a:solidFill>
                <a:latin typeface="Arial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7264" y="1261872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D7D7D"/>
                </a:solidFill>
                <a:latin typeface="Arial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1261872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D7D7D"/>
                </a:solidFill>
                <a:latin typeface="Arial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1261872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D7D7D"/>
                </a:solidFill>
                <a:latin typeface="Arial"/>
              </a:rP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28" y="1261872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D7D7D"/>
                </a:solidFill>
                <a:latin typeface="Arial"/>
              </a:rP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9216" y="1261872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D7D7D"/>
                </a:solidFill>
                <a:latin typeface="Arial"/>
              </a:rPr>
              <a:t>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04704" y="1261872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D7D7D"/>
                </a:solidFill>
                <a:latin typeface="Arial"/>
              </a:rPr>
              <a:t>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1261872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D7D7D"/>
                </a:solidFill>
                <a:latin typeface="Arial"/>
              </a:rPr>
              <a:t>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1261872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D7D7D"/>
                </a:solidFill>
                <a:latin typeface="Arial"/>
              </a:rPr>
              <a:t>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1490472"/>
            <a:ext cx="3154680" cy="26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6" b="0" i="0">
                <a:solidFill>
                  <a:srgbClr val="141414"/>
                </a:solidFill>
                <a:latin typeface="Arial"/>
              </a:rPr>
              <a:t>Guidelines review / proposal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0" y="1508760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98848" y="1508760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74336" y="1508760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49824" y="1508760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25312" y="1508760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1508760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76288" y="1508760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51776" y="1508760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827264" y="1508760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02752" y="1508760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778240" y="1508760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253728" y="1508760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729216" y="1508760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204704" y="1508760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680192" y="1508760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155680" y="1508760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041648" y="1527048"/>
            <a:ext cx="914400" cy="209830"/>
          </a:xfrm>
          <a:prstGeom prst="roundRect">
            <a:avLst/>
          </a:prstGeom>
          <a:solidFill>
            <a:srgbClr val="7D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1755166"/>
            <a:ext cx="3154680" cy="26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6" b="0" i="0">
                <a:solidFill>
                  <a:srgbClr val="141414"/>
                </a:solidFill>
                <a:latin typeface="Arial"/>
              </a:rPr>
              <a:t>Database schema design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023360" y="1773454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98848" y="1773454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974336" y="1773454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49824" y="1773454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925312" y="1773454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00800" y="1773454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876288" y="1773454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351776" y="1773454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827264" y="1773454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302752" y="1773454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778240" y="1773454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253728" y="1773454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729216" y="1773454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204704" y="1773454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680192" y="1773454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155680" y="1773454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517136" y="1791742"/>
            <a:ext cx="914400" cy="209830"/>
          </a:xfrm>
          <a:prstGeom prst="roundRect">
            <a:avLst/>
          </a:prstGeom>
          <a:solidFill>
            <a:srgbClr val="529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7240" y="2019861"/>
            <a:ext cx="3154680" cy="26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6" b="0" i="0">
                <a:solidFill>
                  <a:srgbClr val="141414"/>
                </a:solidFill>
                <a:latin typeface="Arial"/>
              </a:rPr>
              <a:t>Auth &amp; role-based access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023360" y="2038149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498848" y="2038149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974336" y="2038149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449824" y="2038149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925312" y="2038149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400800" y="2038149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876288" y="2038149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351776" y="2038149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827264" y="2038149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302752" y="2038149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0" y="2038149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253728" y="2038149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729216" y="2038149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204704" y="2038149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680192" y="2038149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155680" y="2038149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4992624" y="2056437"/>
            <a:ext cx="914400" cy="209830"/>
          </a:xfrm>
          <a:prstGeom prst="roundRect">
            <a:avLst/>
          </a:prstGeom>
          <a:solidFill>
            <a:srgbClr val="529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77240" y="2284556"/>
            <a:ext cx="3154680" cy="26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6" b="0" i="0">
                <a:solidFill>
                  <a:srgbClr val="141414"/>
                </a:solidFill>
                <a:latin typeface="Arial"/>
              </a:rPr>
              <a:t>Herd registry (web)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023360" y="2302844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498848" y="2302844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974336" y="2302844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449824" y="2302844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925312" y="2302844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400800" y="2302844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76288" y="2302844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51776" y="2302844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827264" y="2302844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302752" y="2302844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778240" y="2302844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253728" y="2302844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729216" y="2302844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204704" y="2302844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680192" y="2302844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1155680" y="2302844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5468112" y="2321132"/>
            <a:ext cx="914400" cy="209830"/>
          </a:xfrm>
          <a:prstGeom prst="roundRect">
            <a:avLst/>
          </a:prstGeom>
          <a:solidFill>
            <a:srgbClr val="2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77240" y="2549250"/>
            <a:ext cx="3154680" cy="26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6" b="0" i="0">
                <a:solidFill>
                  <a:srgbClr val="141414"/>
                </a:solidFill>
                <a:latin typeface="Arial"/>
              </a:rPr>
              <a:t>Health-compliance lifecycle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023360" y="2567538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4498848" y="2567538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4974336" y="2567538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5449824" y="2567538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925312" y="2567538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400800" y="2567538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876288" y="2567538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7351776" y="2567538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7827264" y="2567538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302752" y="2567538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778240" y="2567538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53728" y="2567538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729216" y="2567538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204704" y="2567538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0680192" y="2567538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1155680" y="2567538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5943600" y="2585826"/>
            <a:ext cx="438912" cy="209830"/>
          </a:xfrm>
          <a:prstGeom prst="roundRect">
            <a:avLst/>
          </a:prstGeom>
          <a:solidFill>
            <a:srgbClr val="2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77240" y="2813945"/>
            <a:ext cx="3154680" cy="26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6" b="0" i="0">
                <a:solidFill>
                  <a:srgbClr val="141414"/>
                </a:solidFill>
                <a:latin typeface="Arial"/>
              </a:rPr>
              <a:t>Marketplace + clearance gate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023360" y="2832233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4498848" y="2832233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4974336" y="2832233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449824" y="2832233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925312" y="2832233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400800" y="2832233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6876288" y="2832233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7351776" y="2832233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7827264" y="2832233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302752" y="2832233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8778240" y="2832233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9253728" y="2832233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9729216" y="2832233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0204704" y="2832233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0680192" y="2832233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1155680" y="2832233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5943600" y="2850521"/>
            <a:ext cx="1389888" cy="209830"/>
          </a:xfrm>
          <a:prstGeom prst="roundRect">
            <a:avLst/>
          </a:prstGeom>
          <a:solidFill>
            <a:srgbClr val="2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77240" y="3078640"/>
            <a:ext cx="3154680" cy="26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6" b="0" i="0">
                <a:solidFill>
                  <a:srgbClr val="141414"/>
                </a:solidFill>
                <a:latin typeface="Arial"/>
              </a:rPr>
              <a:t>Valuation certificate workflow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023360" y="3096928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498848" y="3096928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974336" y="3096928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5449824" y="3096928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5925312" y="3096928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6400800" y="3096928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6876288" y="3096928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7351776" y="3096928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7827264" y="3096928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8302752" y="3096928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8778240" y="3096928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9253728" y="3096928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9729216" y="3096928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0204704" y="3096928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0680192" y="3096928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1155680" y="3096928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ounded Rectangle 145"/>
          <p:cNvSpPr/>
          <p:nvPr/>
        </p:nvSpPr>
        <p:spPr>
          <a:xfrm>
            <a:off x="6419088" y="3115216"/>
            <a:ext cx="914400" cy="209830"/>
          </a:xfrm>
          <a:prstGeom prst="roundRect">
            <a:avLst/>
          </a:prstGeom>
          <a:solidFill>
            <a:srgbClr val="2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77240" y="3343335"/>
            <a:ext cx="3154680" cy="26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6" b="0" i="0">
                <a:solidFill>
                  <a:srgbClr val="141414"/>
                </a:solidFill>
                <a:latin typeface="Arial"/>
              </a:rPr>
              <a:t>Institution ledger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023360" y="3361623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4498848" y="3361623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4974336" y="3361623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449824" y="3361623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25312" y="3361623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400800" y="3361623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876288" y="3361623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7351776" y="3361623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7827264" y="3361623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8302752" y="3361623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8778240" y="3361623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9253728" y="3361623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9729216" y="3361623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10204704" y="3361623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10680192" y="3361623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11155680" y="3361623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ounded Rectangle 163"/>
          <p:cNvSpPr/>
          <p:nvPr/>
        </p:nvSpPr>
        <p:spPr>
          <a:xfrm>
            <a:off x="6894576" y="3379911"/>
            <a:ext cx="438912" cy="209830"/>
          </a:xfrm>
          <a:prstGeom prst="roundRect">
            <a:avLst/>
          </a:prstGeom>
          <a:solidFill>
            <a:srgbClr val="2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77240" y="3608029"/>
            <a:ext cx="3154680" cy="26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6" b="0" i="0">
                <a:solidFill>
                  <a:srgbClr val="141414"/>
                </a:solidFill>
                <a:latin typeface="Arial"/>
              </a:rPr>
              <a:t>Outbreak reporting pipeline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023360" y="3626317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4498848" y="3626317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4974336" y="3626317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5449824" y="3626317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5925312" y="3626317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6400800" y="3626317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6876288" y="3626317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351776" y="3626317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7264" y="3626317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8302752" y="3626317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8778240" y="3626317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9253728" y="3626317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9729216" y="3626317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10204704" y="3626317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10680192" y="3626317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11155680" y="3626317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ounded Rectangle 181"/>
          <p:cNvSpPr/>
          <p:nvPr/>
        </p:nvSpPr>
        <p:spPr>
          <a:xfrm>
            <a:off x="7370064" y="3644605"/>
            <a:ext cx="914400" cy="209830"/>
          </a:xfrm>
          <a:prstGeom prst="roundRect">
            <a:avLst/>
          </a:prstGeom>
          <a:solidFill>
            <a:srgbClr val="2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777240" y="3872724"/>
            <a:ext cx="3154680" cy="26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6" b="0" i="0">
                <a:solidFill>
                  <a:srgbClr val="141414"/>
                </a:solidFill>
                <a:latin typeface="Arial"/>
              </a:rPr>
              <a:t>Farmer cooperatives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4023360" y="3891012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4498848" y="3891012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4974336" y="3891012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5449824" y="3891012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5925312" y="3891012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6400800" y="3891012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6876288" y="3891012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351776" y="3891012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7827264" y="3891012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8302752" y="3891012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8778240" y="3891012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9253728" y="3891012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9729216" y="3891012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10204704" y="3891012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10680192" y="3891012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11155680" y="3891012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ounded Rectangle 199"/>
          <p:cNvSpPr/>
          <p:nvPr/>
        </p:nvSpPr>
        <p:spPr>
          <a:xfrm>
            <a:off x="7370064" y="3909300"/>
            <a:ext cx="438912" cy="209830"/>
          </a:xfrm>
          <a:prstGeom prst="roundRect">
            <a:avLst/>
          </a:prstGeom>
          <a:solidFill>
            <a:srgbClr val="2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777240" y="4137419"/>
            <a:ext cx="3154680" cy="26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6" b="0" i="0">
                <a:solidFill>
                  <a:srgbClr val="141414"/>
                </a:solidFill>
                <a:latin typeface="Arial"/>
              </a:rPr>
              <a:t>Feed &amp; trading tools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4023360" y="4155707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4498848" y="4155707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4974336" y="4155707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449824" y="4155707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925312" y="4155707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400800" y="4155707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876288" y="4155707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7351776" y="4155707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7827264" y="4155707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8302752" y="4155707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8778240" y="4155707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9253728" y="4155707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9729216" y="4155707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10204704" y="4155707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10680192" y="4155707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11155680" y="4155707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ounded Rectangle 217"/>
          <p:cNvSpPr/>
          <p:nvPr/>
        </p:nvSpPr>
        <p:spPr>
          <a:xfrm>
            <a:off x="7845552" y="4173995"/>
            <a:ext cx="438912" cy="209830"/>
          </a:xfrm>
          <a:prstGeom prst="roundRect">
            <a:avLst/>
          </a:prstGeom>
          <a:solidFill>
            <a:srgbClr val="2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777240" y="4402114"/>
            <a:ext cx="3154680" cy="26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6" b="0" i="0">
                <a:solidFill>
                  <a:srgbClr val="141414"/>
                </a:solidFill>
                <a:latin typeface="Arial"/>
              </a:rPr>
              <a:t>Mobile app (Expo/RN)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4023360" y="4420402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4498848" y="4420402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4974336" y="4420402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5449824" y="4420402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925312" y="4420402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6400800" y="4420402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6876288" y="4420402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7351776" y="4420402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827264" y="4420402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8302752" y="4420402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8778240" y="4420402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9253728" y="4420402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9729216" y="4420402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10204704" y="4420402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10680192" y="4420402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11155680" y="4420402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ounded Rectangle 235"/>
          <p:cNvSpPr/>
          <p:nvPr/>
        </p:nvSpPr>
        <p:spPr>
          <a:xfrm>
            <a:off x="7370064" y="4438690"/>
            <a:ext cx="1389888" cy="209830"/>
          </a:xfrm>
          <a:prstGeom prst="roundRect">
            <a:avLst/>
          </a:prstGeom>
          <a:solidFill>
            <a:srgbClr val="2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777240" y="4666808"/>
            <a:ext cx="3154680" cy="26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6" b="0" i="0">
                <a:solidFill>
                  <a:srgbClr val="141414"/>
                </a:solidFill>
                <a:latin typeface="Arial"/>
              </a:rPr>
              <a:t>Secure messenger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4023360" y="4685096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4498848" y="4685096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4974336" y="4685096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5449824" y="4685096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5925312" y="4685096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400800" y="4685096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876288" y="4685096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7351776" y="4685096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7827264" y="4685096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8302752" y="4685096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8778240" y="4685096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9253728" y="4685096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9729216" y="4685096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10204704" y="4685096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10680192" y="4685096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11155680" y="4685096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ounded Rectangle 253"/>
          <p:cNvSpPr/>
          <p:nvPr/>
        </p:nvSpPr>
        <p:spPr>
          <a:xfrm>
            <a:off x="8321040" y="4703384"/>
            <a:ext cx="438912" cy="209830"/>
          </a:xfrm>
          <a:prstGeom prst="roundRect">
            <a:avLst/>
          </a:prstGeom>
          <a:solidFill>
            <a:srgbClr val="2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777240" y="4931503"/>
            <a:ext cx="3154680" cy="26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6" b="0" i="0">
                <a:solidFill>
                  <a:srgbClr val="141414"/>
                </a:solidFill>
                <a:latin typeface="Arial"/>
              </a:rPr>
              <a:t>Jinda AI assistant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4023360" y="4949791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4498848" y="4949791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4974336" y="4949791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5449824" y="4949791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5925312" y="4949791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6400800" y="4949791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6876288" y="4949791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7351776" y="4949791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7827264" y="4949791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8302752" y="4949791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8778240" y="4949791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9253728" y="4949791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9729216" y="4949791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10204704" y="4949791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10680192" y="4949791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11155680" y="4949791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ounded Rectangle 271"/>
          <p:cNvSpPr/>
          <p:nvPr/>
        </p:nvSpPr>
        <p:spPr>
          <a:xfrm>
            <a:off x="8321040" y="4968079"/>
            <a:ext cx="914400" cy="209830"/>
          </a:xfrm>
          <a:prstGeom prst="roundRect">
            <a:avLst/>
          </a:prstGeom>
          <a:solidFill>
            <a:srgbClr val="2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777240" y="5196198"/>
            <a:ext cx="3154680" cy="26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6" b="0" i="0">
                <a:solidFill>
                  <a:srgbClr val="141414"/>
                </a:solidFill>
                <a:latin typeface="Arial"/>
              </a:rPr>
              <a:t>Local (XAMPP) deployment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4023360" y="5214486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4498848" y="5214486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4974336" y="5214486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5449824" y="5214486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5925312" y="5214486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6400800" y="5214486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6876288" y="5214486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7351776" y="5214486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7827264" y="5214486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8302752" y="5214486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8778240" y="5214486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9253728" y="5214486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9729216" y="5214486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10204704" y="5214486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10680192" y="5214486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11155680" y="5214486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ounded Rectangle 289"/>
          <p:cNvSpPr/>
          <p:nvPr/>
        </p:nvSpPr>
        <p:spPr>
          <a:xfrm>
            <a:off x="8796528" y="5232774"/>
            <a:ext cx="438912" cy="209830"/>
          </a:xfrm>
          <a:prstGeom prst="roundRect">
            <a:avLst/>
          </a:prstGeom>
          <a:solidFill>
            <a:srgbClr val="E58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TextBox 290"/>
          <p:cNvSpPr txBox="1"/>
          <p:nvPr/>
        </p:nvSpPr>
        <p:spPr>
          <a:xfrm>
            <a:off x="777240" y="5460893"/>
            <a:ext cx="3154680" cy="26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6" b="0" i="0">
                <a:solidFill>
                  <a:srgbClr val="141414"/>
                </a:solidFill>
                <a:latin typeface="Arial"/>
              </a:rPr>
              <a:t>Integration testing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4023360" y="5479181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4498848" y="5479181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4974336" y="5479181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5449824" y="5479181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5925312" y="5479181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6400800" y="5479181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6876288" y="5479181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7351776" y="5479181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7827264" y="5479181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8302752" y="5479181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8778240" y="5479181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9253728" y="5479181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9729216" y="5479181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10204704" y="5479181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10680192" y="5479181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11155680" y="5479181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ounded Rectangle 307"/>
          <p:cNvSpPr/>
          <p:nvPr/>
        </p:nvSpPr>
        <p:spPr>
          <a:xfrm>
            <a:off x="8796528" y="5497469"/>
            <a:ext cx="914400" cy="209830"/>
          </a:xfrm>
          <a:prstGeom prst="round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TextBox 308"/>
          <p:cNvSpPr txBox="1"/>
          <p:nvPr/>
        </p:nvSpPr>
        <p:spPr>
          <a:xfrm>
            <a:off x="777240" y="5725587"/>
            <a:ext cx="3154680" cy="26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6" b="0" i="0">
                <a:solidFill>
                  <a:srgbClr val="141414"/>
                </a:solidFill>
                <a:latin typeface="Arial"/>
              </a:rPr>
              <a:t>Chapters 1-3 write-up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4023360" y="5743875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4498848" y="5743875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4974336" y="5743875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5449824" y="5743875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5925312" y="5743875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6400800" y="5743875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6876288" y="5743875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7351776" y="5743875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7827264" y="5743875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8302752" y="5743875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8778240" y="5743875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9253728" y="5743875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9729216" y="5743875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10204704" y="5743875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10680192" y="5743875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11155680" y="5743875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ounded Rectangle 325"/>
          <p:cNvSpPr/>
          <p:nvPr/>
        </p:nvSpPr>
        <p:spPr>
          <a:xfrm>
            <a:off x="9272016" y="5762163"/>
            <a:ext cx="914400" cy="209830"/>
          </a:xfrm>
          <a:prstGeom prst="roundRect">
            <a:avLst/>
          </a:prstGeom>
          <a:solidFill>
            <a:srgbClr val="914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TextBox 326"/>
          <p:cNvSpPr txBox="1"/>
          <p:nvPr/>
        </p:nvSpPr>
        <p:spPr>
          <a:xfrm>
            <a:off x="777240" y="5990282"/>
            <a:ext cx="3154680" cy="26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6" b="0" i="0">
                <a:solidFill>
                  <a:srgbClr val="141414"/>
                </a:solidFill>
                <a:latin typeface="Arial"/>
              </a:rPr>
              <a:t>Chapters 4-5 write-up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4023360" y="6008570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4498848" y="6008570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4974336" y="6008570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5449824" y="6008570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5925312" y="6008570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6400800" y="6008570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6876288" y="6008570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7351776" y="6008570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7827264" y="6008570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8302752" y="6008570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8778240" y="6008570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9253728" y="6008570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9729216" y="6008570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10204704" y="6008570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10680192" y="6008570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11155680" y="6008570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ounded Rectangle 343"/>
          <p:cNvSpPr/>
          <p:nvPr/>
        </p:nvSpPr>
        <p:spPr>
          <a:xfrm>
            <a:off x="10222992" y="6026858"/>
            <a:ext cx="438912" cy="209830"/>
          </a:xfrm>
          <a:prstGeom prst="roundRect">
            <a:avLst/>
          </a:prstGeom>
          <a:solidFill>
            <a:srgbClr val="914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TextBox 344"/>
          <p:cNvSpPr txBox="1"/>
          <p:nvPr/>
        </p:nvSpPr>
        <p:spPr>
          <a:xfrm>
            <a:off x="777240" y="6254977"/>
            <a:ext cx="3154680" cy="26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6" b="0" i="0">
                <a:solidFill>
                  <a:srgbClr val="141414"/>
                </a:solidFill>
                <a:latin typeface="Arial"/>
              </a:rPr>
              <a:t>Final corrections</a:t>
            </a:r>
          </a:p>
        </p:txBody>
      </p:sp>
      <p:sp>
        <p:nvSpPr>
          <p:cNvPr id="346" name="Rectangle 345"/>
          <p:cNvSpPr/>
          <p:nvPr/>
        </p:nvSpPr>
        <p:spPr>
          <a:xfrm>
            <a:off x="4023360" y="6273265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4498848" y="6273265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4974336" y="6273265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5449824" y="6273265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5925312" y="6273265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6400800" y="6273265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6876288" y="6273265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7351776" y="6273265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7827264" y="6273265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8302752" y="6273265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8778240" y="6273265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9253728" y="6273265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9729216" y="6273265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10204704" y="6273265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10680192" y="6273265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11155680" y="6273265"/>
            <a:ext cx="475488" cy="2464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ounded Rectangle 361"/>
          <p:cNvSpPr/>
          <p:nvPr/>
        </p:nvSpPr>
        <p:spPr>
          <a:xfrm>
            <a:off x="10698480" y="6291553"/>
            <a:ext cx="914400" cy="209830"/>
          </a:xfrm>
          <a:prstGeom prst="roundRect">
            <a:avLst/>
          </a:prstGeom>
          <a:solidFill>
            <a:srgbClr val="7D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1153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41414"/>
                </a:solidFill>
                <a:latin typeface="Arial Narrow"/>
              </a:rPr>
              <a:t>Work Carried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6492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700">
                <a:solidFill>
                  <a:srgbClr val="141414"/>
                </a:solidFill>
                <a:latin typeface="Arial"/>
              </a:rPr>
              <a:t>• The backend API and database schema are built and running, covering all seven roles.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141414"/>
                </a:solidFill>
                <a:latin typeface="Arial"/>
              </a:rPr>
              <a:t>• The web app is built and demoed live; the mobile app is built and reaches the same backend, but has not yet been exercised on a physical device.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141414"/>
                </a:solidFill>
                <a:latin typeface="Arial"/>
              </a:rPr>
              <a:t>• The marketplace, clearance, certification, outbreak-reporting, messenger, cooperative, health-compliance, feed/trading and assistant workflows are all implemented end to end.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141414"/>
                </a:solidFill>
                <a:latin typeface="Arial"/>
              </a:rPr>
              <a:t>• The platform was moved off external hosting and now runs entirely on the local development machine.</a:t>
            </a:r>
          </a:p>
          <a:p>
            <a:pPr algn="l">
              <a:spcAft>
                <a:spcPts val="900"/>
              </a:spcAft>
            </a:pPr>
            <a:r>
              <a:rPr sz="1700">
                <a:solidFill>
                  <a:srgbClr val="141414"/>
                </a:solidFill>
                <a:latin typeface="Arial"/>
              </a:rPr>
              <a:t>• Next: complete the dissertation write-up against the school's guidelines.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325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1414"/>
                </a:solidFill>
                <a:latin typeface="Arial"/>
              </a:rPr>
              <a:t>Implementation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828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41414"/>
                </a:solidFill>
                <a:latin typeface="Arial"/>
              </a:rPr>
              <a:t>Backend API / DB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64040" y="1801368"/>
            <a:ext cx="1234440" cy="320040"/>
          </a:xfrm>
          <a:prstGeom prst="roundRect">
            <a:avLst/>
          </a:prstGeom>
          <a:solidFill>
            <a:srgbClr val="2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DONE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377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41414"/>
                </a:solidFill>
                <a:latin typeface="Arial"/>
              </a:rPr>
              <a:t>Web 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64040" y="2350008"/>
            <a:ext cx="1234440" cy="320040"/>
          </a:xfrm>
          <a:prstGeom prst="roundRect">
            <a:avLst/>
          </a:prstGeom>
          <a:solidFill>
            <a:srgbClr val="2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DONE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41414"/>
                </a:solidFill>
                <a:latin typeface="Arial"/>
              </a:rPr>
              <a:t>Mobile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64040" y="2898648"/>
            <a:ext cx="1234440" cy="320040"/>
          </a:xfrm>
          <a:prstGeom prst="roundRect">
            <a:avLst/>
          </a:prstGeom>
          <a:solidFill>
            <a:srgbClr val="E58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BUILT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3474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41414"/>
                </a:solidFill>
                <a:latin typeface="Arial"/>
              </a:rPr>
              <a:t>Core workflows*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64040" y="3447288"/>
            <a:ext cx="1234440" cy="320040"/>
          </a:xfrm>
          <a:prstGeom prst="roundRect">
            <a:avLst/>
          </a:prstGeom>
          <a:solidFill>
            <a:srgbClr val="2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DONE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4023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41414"/>
                </a:solidFill>
                <a:latin typeface="Arial"/>
              </a:rPr>
              <a:t>Local deployment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64040" y="3995928"/>
            <a:ext cx="1234440" cy="320040"/>
          </a:xfrm>
          <a:prstGeom prst="roundRect">
            <a:avLst/>
          </a:prstGeom>
          <a:solidFill>
            <a:srgbClr val="2F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DONE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4572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41414"/>
                </a:solidFill>
                <a:latin typeface="Arial"/>
              </a:rPr>
              <a:t>Dissertation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64040" y="4544568"/>
            <a:ext cx="1234440" cy="320040"/>
          </a:xfrm>
          <a:prstGeom prst="roundRect">
            <a:avLst/>
          </a:prstGeom>
          <a:solidFill>
            <a:srgbClr val="E58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IN PROGRESS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5212079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7D7D7D"/>
                </a:solidFill>
                <a:latin typeface="Arial"/>
              </a:rPr>
              <a:t>* marketplace, sale clearance, the valuation certificate, institution ledger, outbreak reporting, the messenger, farmer cooperatives, the health-compliance lifecycle, feed/trading tools, and the Jinda assistant.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744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141414"/>
                </a:solidFill>
                <a:latin typeface="Arial Narrow"/>
              </a:rPr>
              <a:t>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632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100" b="0" i="0">
                <a:solidFill>
                  <a:srgbClr val="141414"/>
                </a:solidFill>
                <a:latin typeface="Arial Narrow"/>
              </a:rPr>
              <a:t>Thank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749039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7D7D7D"/>
                </a:solidFill>
                <a:latin typeface="Arial"/>
              </a:rPr>
              <a:t>15 minutes total: 10 to present, 5 for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